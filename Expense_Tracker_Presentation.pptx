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7F7E6"/>
          </a:solidFill>
          <a:ln>
            <a:solidFill>
              <a:srgbClr val="B7F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Arial"/>
              </a:defRPr>
            </a:pPr>
            <a:r>
              <a:t>EXPENSE TRACKER</a:t>
            </a:r>
          </a:p>
          <a:p>
            <a:pPr algn="l">
              <a:defRPr sz="2200">
                <a:solidFill>
                  <a:srgbClr val="B7F7E6"/>
                </a:solidFill>
                <a:latin typeface="Arial"/>
              </a:defRPr>
            </a:pPr>
            <a:r>
              <a:t>A Full-Stack Expense Management Web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  <a:latin typeface="Arial"/>
              </a:defRPr>
            </a:pPr>
            <a:r>
              <a:t>Tech Stack: HTML, CSS, JavaScript, Node.js, Express, MySQL</a:t>
            </a:r>
          </a:p>
          <a:p>
            <a:pPr>
              <a:defRPr sz="1400" b="1">
                <a:solidFill>
                  <a:srgbClr val="B7F7E6"/>
                </a:solidFill>
                <a:latin typeface="Arial"/>
              </a:defRPr>
            </a:pPr>
            <a:r>
              <a:t>Developer: Nikhil | Secure &amp; Timezone-Independent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766E"/>
                </a:solidFill>
                <a:latin typeface="Arial"/>
              </a:defRPr>
            </a:pPr>
            <a:r>
              <a:t>The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17202A"/>
                </a:solidFill>
                <a:latin typeface="Arial"/>
              </a:defRPr>
            </a:pPr>
            <a:r>
              <a:t>•  Traditional manual ledger records are tedious and prone to mathematical errors.</a:t>
            </a:r>
          </a:p>
          <a:p>
            <a:pPr>
              <a:spcAft>
                <a:spcPts val="2000"/>
              </a:spcAft>
              <a:defRPr sz="1800">
                <a:solidFill>
                  <a:srgbClr val="17202A"/>
                </a:solidFill>
                <a:latin typeface="Arial"/>
              </a:defRPr>
            </a:pPr>
            <a:r>
              <a:t>•  Lack of real-time calculations (Total, Highest, Average) makes immediate budget analysis difficult.</a:t>
            </a:r>
          </a:p>
          <a:p>
            <a:pPr>
              <a:spcAft>
                <a:spcPts val="2000"/>
              </a:spcAft>
              <a:defRPr sz="1800">
                <a:solidFill>
                  <a:srgbClr val="17202A"/>
                </a:solidFill>
                <a:latin typeface="Arial"/>
              </a:defRPr>
            </a:pPr>
            <a:r>
              <a:t>•  Server-client timezone differences often cause dates to shift unexpectedly (e.g. June 10th displaying as June 9th on different timezones).</a:t>
            </a:r>
          </a:p>
          <a:p>
            <a:pPr>
              <a:spcAft>
                <a:spcPts val="2000"/>
              </a:spcAft>
              <a:defRPr sz="1800">
                <a:solidFill>
                  <a:srgbClr val="17202A"/>
                </a:solidFill>
                <a:latin typeface="Arial"/>
              </a:defRPr>
            </a:pPr>
            <a:r>
              <a:t>•  Form submissions without database input limits can trigger SQL failures or crash servers.</a:t>
            </a:r>
          </a:p>
          <a:p>
            <a:pPr>
              <a:spcAft>
                <a:spcPts val="2000"/>
              </a:spcAft>
              <a:defRPr sz="1800">
                <a:solidFill>
                  <a:srgbClr val="17202A"/>
                </a:solidFill>
                <a:latin typeface="Arial"/>
              </a:defRPr>
            </a:pPr>
            <a:r>
              <a:t>•  Frontend applications without proper API validation crash during database downtime instead of recovering gracefully.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766E"/>
                </a:solidFill>
                <a:latin typeface="Arial"/>
              </a:defRPr>
            </a:pPr>
            <a:r>
              <a:t>The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17202A"/>
                </a:solidFill>
                <a:latin typeface="Arial"/>
              </a:defRPr>
            </a:pPr>
            <a:r>
              <a:t>✓  A beautiful, responsive dashboard to log daily expenses with Title, Amount, Category, Date, and Optional Notes.</a:t>
            </a:r>
          </a:p>
          <a:p>
            <a:pPr>
              <a:spcAft>
                <a:spcPts val="2000"/>
              </a:spcAft>
              <a:defRPr sz="1800">
                <a:solidFill>
                  <a:srgbClr val="17202A"/>
                </a:solidFill>
                <a:latin typeface="Arial"/>
              </a:defRPr>
            </a:pPr>
            <a:r>
              <a:t>✓  Instant calculation of key metrics (Entries Count, Highest Expense, Average Expense, and Total Spent).</a:t>
            </a:r>
          </a:p>
          <a:p>
            <a:pPr>
              <a:spcAft>
                <a:spcPts val="2000"/>
              </a:spcAft>
              <a:defRPr sz="1800">
                <a:solidFill>
                  <a:srgbClr val="17202A"/>
                </a:solidFill>
                <a:latin typeface="Arial"/>
              </a:defRPr>
            </a:pPr>
            <a:r>
              <a:t>✓  Timezone-independent date tracking using raw strings (YYYY-MM-DD) bypasses browser date-shifting bugs.</a:t>
            </a:r>
          </a:p>
          <a:p>
            <a:pPr>
              <a:spcAft>
                <a:spcPts val="2000"/>
              </a:spcAft>
              <a:defRPr sz="1800">
                <a:solidFill>
                  <a:srgbClr val="17202A"/>
                </a:solidFill>
                <a:latin typeface="Arial"/>
              </a:defRPr>
            </a:pPr>
            <a:r>
              <a:t>✓  Strict client-side length constraints (maxlength 100 for titles, 255 for notes) matching MySQL column limits.</a:t>
            </a:r>
          </a:p>
          <a:p>
            <a:pPr>
              <a:spcAft>
                <a:spcPts val="2000"/>
              </a:spcAft>
              <a:defRPr sz="1800">
                <a:solidFill>
                  <a:srgbClr val="17202A"/>
                </a:solidFill>
                <a:latin typeface="Arial"/>
              </a:defRPr>
            </a:pPr>
            <a:r>
              <a:t>✓  Graceful error handling blocks front-end execution crashes during database disconnects and notifies the user.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766E"/>
                </a:solidFill>
                <a:latin typeface="Arial"/>
              </a:defRPr>
            </a:pPr>
            <a:r>
              <a:t>System Architecture &amp; 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766E"/>
                </a:solidFill>
                <a:latin typeface="Arial"/>
              </a:defRPr>
            </a:pPr>
            <a:r>
              <a:t>Frontend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02A"/>
                </a:solidFill>
                <a:latin typeface="Arial"/>
              </a:defRPr>
            </a:pPr>
            <a:r>
              <a:t>• HTML5 &amp; Semantic markup</a:t>
            </a:r>
          </a:p>
          <a:p>
            <a:pPr>
              <a:spcAft>
                <a:spcPts val="1000"/>
              </a:spcAft>
              <a:defRPr sz="1400">
                <a:solidFill>
                  <a:srgbClr val="17202A"/>
                </a:solidFill>
                <a:latin typeface="Arial"/>
              </a:defRPr>
            </a:pPr>
            <a:r>
              <a:t>• Custom CSS3 (flexbox &amp; grid)</a:t>
            </a:r>
          </a:p>
          <a:p>
            <a:pPr>
              <a:spcAft>
                <a:spcPts val="1000"/>
              </a:spcAft>
              <a:defRPr sz="1400">
                <a:solidFill>
                  <a:srgbClr val="17202A"/>
                </a:solidFill>
                <a:latin typeface="Arial"/>
              </a:defRPr>
            </a:pPr>
            <a:r>
              <a:t>• Vanilla JS for DOM manipulation</a:t>
            </a:r>
          </a:p>
          <a:p>
            <a:pPr>
              <a:spcAft>
                <a:spcPts val="1000"/>
              </a:spcAft>
              <a:defRPr sz="1400">
                <a:solidFill>
                  <a:srgbClr val="17202A"/>
                </a:solidFill>
                <a:latin typeface="Arial"/>
              </a:defRPr>
            </a:pPr>
            <a:r>
              <a:t>• Client-side input validation</a:t>
            </a:r>
          </a:p>
          <a:p>
            <a:pPr>
              <a:spcAft>
                <a:spcPts val="1000"/>
              </a:spcAft>
              <a:defRPr sz="1400">
                <a:solidFill>
                  <a:srgbClr val="17202A"/>
                </a:solidFill>
                <a:latin typeface="Arial"/>
              </a:defRPr>
            </a:pPr>
            <a:r>
              <a:t>• Mobile-responsive layout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8288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766E"/>
                </a:solidFill>
                <a:latin typeface="Arial"/>
              </a:defRPr>
            </a:pPr>
            <a:r>
              <a:t>Backend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46888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02A"/>
                </a:solidFill>
                <a:latin typeface="Arial"/>
              </a:defRPr>
            </a:pPr>
            <a:r>
              <a:t>• Node.js runtime</a:t>
            </a:r>
          </a:p>
          <a:p>
            <a:pPr>
              <a:spcAft>
                <a:spcPts val="1000"/>
              </a:spcAft>
              <a:defRPr sz="1400">
                <a:solidFill>
                  <a:srgbClr val="17202A"/>
                </a:solidFill>
                <a:latin typeface="Arial"/>
              </a:defRPr>
            </a:pPr>
            <a:r>
              <a:t>• Express.js framework</a:t>
            </a:r>
          </a:p>
          <a:p>
            <a:pPr>
              <a:spcAft>
                <a:spcPts val="1000"/>
              </a:spcAft>
              <a:defRPr sz="1400">
                <a:solidFill>
                  <a:srgbClr val="17202A"/>
                </a:solidFill>
                <a:latin typeface="Arial"/>
              </a:defRPr>
            </a:pPr>
            <a:r>
              <a:t>• RESTful API architecture</a:t>
            </a:r>
          </a:p>
          <a:p>
            <a:pPr>
              <a:spcAft>
                <a:spcPts val="1000"/>
              </a:spcAft>
              <a:defRPr sz="1400">
                <a:solidFill>
                  <a:srgbClr val="17202A"/>
                </a:solidFill>
                <a:latin typeface="Arial"/>
              </a:defRPr>
            </a:pPr>
            <a:r>
              <a:t>• dotenv for secure environment configs</a:t>
            </a:r>
          </a:p>
          <a:p>
            <a:pPr>
              <a:spcAft>
                <a:spcPts val="1000"/>
              </a:spcAft>
              <a:defRPr sz="1400">
                <a:solidFill>
                  <a:srgbClr val="17202A"/>
                </a:solidFill>
                <a:latin typeface="Arial"/>
              </a:defRPr>
            </a:pPr>
            <a:r>
              <a:t>• CORS enabled for safe requests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766E"/>
                </a:solidFill>
                <a:latin typeface="Arial"/>
              </a:defRPr>
            </a:pPr>
            <a:r>
              <a:t>Database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46888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02A"/>
                </a:solidFill>
                <a:latin typeface="Arial"/>
              </a:defRPr>
            </a:pPr>
            <a:r>
              <a:t>• MySQL relational database</a:t>
            </a:r>
          </a:p>
          <a:p>
            <a:pPr>
              <a:spcAft>
                <a:spcPts val="1000"/>
              </a:spcAft>
              <a:defRPr sz="1400">
                <a:solidFill>
                  <a:srgbClr val="17202A"/>
                </a:solidFill>
                <a:latin typeface="Arial"/>
              </a:defRPr>
            </a:pPr>
            <a:r>
              <a:t>• mysql2/promise for async pools</a:t>
            </a:r>
          </a:p>
          <a:p>
            <a:pPr>
              <a:spcAft>
                <a:spcPts val="1000"/>
              </a:spcAft>
              <a:defRPr sz="1400">
                <a:solidFill>
                  <a:srgbClr val="17202A"/>
                </a:solidFill>
                <a:latin typeface="Arial"/>
              </a:defRPr>
            </a:pPr>
            <a:r>
              <a:t>• Structured SQL schemas</a:t>
            </a:r>
          </a:p>
          <a:p>
            <a:pPr>
              <a:spcAft>
                <a:spcPts val="1000"/>
              </a:spcAft>
              <a:defRPr sz="1400">
                <a:solidFill>
                  <a:srgbClr val="17202A"/>
                </a:solidFill>
                <a:latin typeface="Arial"/>
              </a:defRPr>
            </a:pPr>
            <a:r>
              <a:t>• Decimal precision for amounts</a:t>
            </a:r>
          </a:p>
          <a:p>
            <a:pPr>
              <a:spcAft>
                <a:spcPts val="1000"/>
              </a:spcAft>
              <a:defRPr sz="1400">
                <a:solidFill>
                  <a:srgbClr val="17202A"/>
                </a:solidFill>
                <a:latin typeface="Arial"/>
              </a:defRPr>
            </a:pPr>
            <a:r>
              <a:t>• Automatic timestamps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766E"/>
                </a:solidFill>
                <a:latin typeface="Arial"/>
              </a:defRPr>
            </a:pPr>
            <a:r>
              <a:t>Database Schema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17202A"/>
                </a:solidFill>
                <a:latin typeface="Arial"/>
              </a:defRPr>
            </a:pPr>
            <a:r>
              <a:t>• Database name: expense_tracker</a:t>
            </a:r>
          </a:p>
          <a:p>
            <a:pPr>
              <a:spcAft>
                <a:spcPts val="1500"/>
              </a:spcAft>
              <a:defRPr sz="1600">
                <a:solidFill>
                  <a:srgbClr val="17202A"/>
                </a:solidFill>
                <a:latin typeface="Arial"/>
              </a:defRPr>
            </a:pPr>
            <a:r>
              <a:t>• A relational schema designed for optimal financial accuracy and indexing.</a:t>
            </a:r>
          </a:p>
          <a:p>
            <a:pPr>
              <a:spcAft>
                <a:spcPts val="1500"/>
              </a:spcAft>
              <a:defRPr sz="1600">
                <a:solidFill>
                  <a:srgbClr val="17202A"/>
                </a:solidFill>
                <a:latin typeface="Arial"/>
              </a:defRPr>
            </a:pPr>
            <a:r>
              <a:t>• Uses DECIMAL(10, 2) to prevent float-rounding errors on financial transactions.</a:t>
            </a:r>
          </a:p>
          <a:p>
            <a:pPr>
              <a:spcAft>
                <a:spcPts val="1500"/>
              </a:spcAft>
              <a:defRPr sz="1600">
                <a:solidFill>
                  <a:srgbClr val="17202A"/>
                </a:solidFill>
                <a:latin typeface="Arial"/>
              </a:defRPr>
            </a:pPr>
            <a:r>
              <a:t>• Uses MySQL AUTO_INCREMENT ID as primary key.</a:t>
            </a:r>
          </a:p>
          <a:p>
            <a:pPr>
              <a:spcAft>
                <a:spcPts val="1500"/>
              </a:spcAft>
              <a:defRPr sz="1600">
                <a:solidFill>
                  <a:srgbClr val="17202A"/>
                </a:solidFill>
                <a:latin typeface="Arial"/>
              </a:defRPr>
            </a:pPr>
            <a:r>
              <a:t>• Automatic created_at timestamp recording for transactions.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0" y="1645920"/>
            <a:ext cx="5760720" cy="4389120"/>
          </a:xfrm>
          <a:prstGeom prst="rect">
            <a:avLst/>
          </a:prstGeom>
          <a:solidFill>
            <a:srgbClr val="17202A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0" y="173736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7F7E6"/>
                </a:solidFill>
                <a:latin typeface="Courier New"/>
              </a:defRPr>
            </a:pPr>
            <a:r>
              <a:t>CREATE TABLE expenses (</a:t>
            </a:r>
            <a:br/>
            <a:r>
              <a:t>  id INT AUTO_INCREMENT PRIMARY KEY,</a:t>
            </a:r>
            <a:br/>
            <a:r>
              <a:t>  title VARCHAR(100) NOT NULL,</a:t>
            </a:r>
            <a:br/>
            <a:r>
              <a:t>  amount DECIMAL(10, 2) NOT NULL,</a:t>
            </a:r>
            <a:br/>
            <a:r>
              <a:t>  category VARCHAR(50) NOT NULL,</a:t>
            </a:r>
            <a:br/>
            <a:r>
              <a:t>  expense_date DATE NOT NULL,</a:t>
            </a:r>
            <a:br/>
            <a:r>
              <a:t>  note VARCHAR(255),</a:t>
            </a:r>
            <a:br/>
            <a:r>
              <a:t>  created_at TIMESTAMP DEFAULT</a:t>
            </a:r>
            <a:br/>
            <a:r>
              <a:t>               CURRENT_TIMESTAMP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766E"/>
                </a:solidFill>
                <a:latin typeface="Arial"/>
              </a:defRPr>
            </a:pPr>
            <a:r>
              <a:t>RESTful API Endpoints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82880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  <a:gridCol w="54864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HTTP Method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Route / Endpoint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Function / Description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7202A"/>
                          </a:solidFill>
                          <a:latin typeface="Courier New"/>
                        </a:defRPr>
                      </a:pPr>
                      <a:r>
                        <a:t>/api/expenses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7202A"/>
                          </a:solidFill>
                          <a:latin typeface="Arial"/>
                        </a:defRPr>
                      </a:pPr>
                      <a:r>
                        <a:t>Fetches all transactions from the MySQL database, sorted in descending date order.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7202A"/>
                          </a:solidFill>
                          <a:latin typeface="Courier New"/>
                        </a:defRPr>
                      </a:pPr>
                      <a:r>
                        <a:t>/api/expenses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7202A"/>
                          </a:solidFill>
                          <a:latin typeface="Arial"/>
                        </a:defRPr>
                      </a:pPr>
                      <a:r>
                        <a:t>Adds a new expense. Validates all inputs (amount &gt; 0, field lengths) before inserting.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DELETE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7202A"/>
                          </a:solidFill>
                          <a:latin typeface="Courier New"/>
                        </a:defRPr>
                      </a:pPr>
                      <a:r>
                        <a:t>/api/expenses/:id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7202A"/>
                          </a:solidFill>
                          <a:latin typeface="Arial"/>
                        </a:defRPr>
                      </a:pPr>
                      <a:r>
                        <a:t>Deletes a single transaction matching the URL ID parameter.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766E"/>
                </a:solidFill>
                <a:latin typeface="Arial"/>
              </a:defRPr>
            </a:pPr>
            <a:r>
              <a:t>Engineering Highlights &amp; Critical Fixes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766E"/>
                </a:solidFill>
                <a:latin typeface="Arial"/>
              </a:defRPr>
            </a:pPr>
            <a:r>
              <a:t>Timezone Safety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02A"/>
                </a:solidFill>
                <a:latin typeface="Arial"/>
              </a:defRPr>
            </a:pPr>
            <a:r>
              <a:t>• Enabled `dateStrings: true` in the connection pool config.</a:t>
            </a:r>
          </a:p>
          <a:p>
            <a:pPr>
              <a:spcAft>
                <a:spcPts val="1000"/>
              </a:spcAft>
              <a:defRPr sz="1400">
                <a:solidFill>
                  <a:srgbClr val="17202A"/>
                </a:solidFill>
                <a:latin typeface="Arial"/>
              </a:defRPr>
            </a:pPr>
            <a:r>
              <a:t>• MySQL database returns date columns as raw strings (YYYY-MM-DD).</a:t>
            </a:r>
          </a:p>
          <a:p>
            <a:pPr>
              <a:spcAft>
                <a:spcPts val="1000"/>
              </a:spcAft>
              <a:defRPr sz="1400">
                <a:solidFill>
                  <a:srgbClr val="17202A"/>
                </a:solidFill>
                <a:latin typeface="Arial"/>
              </a:defRPr>
            </a:pPr>
            <a:r>
              <a:t>• Prevents the server from auto-converting dates to UTC objects.</a:t>
            </a:r>
          </a:p>
          <a:p>
            <a:pPr>
              <a:spcAft>
                <a:spcPts val="1000"/>
              </a:spcAft>
              <a:defRPr sz="1400">
                <a:solidFill>
                  <a:srgbClr val="17202A"/>
                </a:solidFill>
                <a:latin typeface="Arial"/>
              </a:defRPr>
            </a:pPr>
            <a:r>
              <a:t>• Eliminates the bug where dates displayed a day earlier or later for users in different timezones.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39535" y="18288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766E"/>
                </a:solidFill>
                <a:latin typeface="Arial"/>
              </a:defRPr>
            </a:pPr>
            <a:r>
              <a:t>Robust Error Validation &amp; 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2415" y="246888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7202A"/>
                </a:solidFill>
                <a:latin typeface="Arial"/>
              </a:defRPr>
            </a:pPr>
            <a:r>
              <a:t>• Form fields added `maxlength` bounds matching VARCHAR constraints.</a:t>
            </a:r>
          </a:p>
          <a:p>
            <a:pPr>
              <a:spcAft>
                <a:spcPts val="1000"/>
              </a:spcAft>
              <a:defRPr sz="1400">
                <a:solidFill>
                  <a:srgbClr val="17202A"/>
                </a:solidFill>
                <a:latin typeface="Arial"/>
              </a:defRPr>
            </a:pPr>
            <a:r>
              <a:t>• Frontend checks `response.ok` before evaluating API data.</a:t>
            </a:r>
          </a:p>
          <a:p>
            <a:pPr>
              <a:spcAft>
                <a:spcPts val="1000"/>
              </a:spcAft>
              <a:defRPr sz="1400">
                <a:solidFill>
                  <a:srgbClr val="17202A"/>
                </a:solidFill>
                <a:latin typeface="Arial"/>
              </a:defRPr>
            </a:pPr>
            <a:r>
              <a:t>• Catches server status codes (500, 404) to show warning dialogs.</a:t>
            </a:r>
          </a:p>
          <a:p>
            <a:pPr>
              <a:spcAft>
                <a:spcPts val="1000"/>
              </a:spcAft>
              <a:defRPr sz="1400">
                <a:solidFill>
                  <a:srgbClr val="17202A"/>
                </a:solidFill>
                <a:latin typeface="Arial"/>
              </a:defRPr>
            </a:pPr>
            <a:r>
              <a:t>• Blocks the client script from crashing when database connections drop.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7F7E6"/>
          </a:solidFill>
          <a:ln>
            <a:solidFill>
              <a:srgbClr val="B7F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Future Project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💡  User Auth: Implementing JWT-based signup and login to support multiple user profiles.</a:t>
            </a:r>
          </a:p>
          <a:p>
            <a:pPr>
              <a:spcAft>
                <a:spcPts val="20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💡  Data Visualizations: Integrating Chart.js or D3.js to show category-wise pie charts and month-on-month trend lines.</a:t>
            </a:r>
          </a:p>
          <a:p>
            <a:pPr>
              <a:spcAft>
                <a:spcPts val="20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💡  Smart Budget Limits: Adding monthly budget caps with warnings when categories cross thresholds.</a:t>
            </a:r>
          </a:p>
          <a:p>
            <a:pPr>
              <a:spcAft>
                <a:spcPts val="20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💡  Export Data: Support for downloading transaction history in Excel (.xlsx) and CSV format.</a:t>
            </a:r>
          </a:p>
          <a:p>
            <a:pPr>
              <a:spcAft>
                <a:spcPts val="20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💡  Smart Recurrence: Automatically logging recurring transactions (Subscriptions, Rent, utilities) monthly.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